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-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9557-BE28-45A8-9CE0-528CD445A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A800D-DF12-42B7-BF5D-94B154502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D59E-07A8-4EAB-B42C-2FBBCBC1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1B748-606B-476B-A34F-5C5F218D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BA142-0C4E-4FC1-B89C-1C1B8879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45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34FC-F499-4038-AB91-4140663E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67031-3CB3-4D57-9932-6EB11D038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6B075-6A33-4F92-AA17-278EE99F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0CD87-FA1A-4D42-BD64-ED5DFA55A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97C6-87E6-4B6A-9647-84281789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801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3F8E-3F68-460C-9D87-6F65A049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9E417-B5F4-411D-AEB6-C57F15703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B1A8A-BD77-4C85-A2A8-082A01F34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4088D-3A62-49AD-B0BF-34112B3B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B614E-0D6B-4C0E-99A8-7C5E7FE3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8298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1F97-B9B6-4A13-A115-80D9382A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BF0ED-A47B-45F1-861E-46CC35AC3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6DAF0-DD94-4348-8DEA-018F8F0CC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E0A1A-B780-417B-9A05-F136F9B1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B42A0-65F2-453B-A50A-B3F706E7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210A1-3801-4B28-B20C-82CACBDA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432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93B56-5F51-44A9-ABFB-5C651EB9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C45D5-D0F5-4DAE-9B5B-D02A25D6A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4BABB-0C43-422E-9CC5-684069513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E83B1-A64B-440A-BE9D-3E0B9EC77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155954-34F2-44A2-8141-2C7A6F31B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9572B-9746-418F-9EF7-0323376E5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90DD3-F20D-40AF-9E41-83BE6B87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1522E-DDB6-48CA-ACA4-00DAE6D46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39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5F4E-F1F6-412C-B41A-6172EAE1D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3E8BDA-FEA5-4D61-8E61-AB4F93F9D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C85E5-8D87-44F5-BB80-E56941CE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9828F-401A-4DFF-A6C0-27FA3709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217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24F669-949B-4FBE-B641-7CCCCD34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824FC-7735-4341-93EF-6BE33CB2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9131D-3D80-4BC8-A358-F9998EA64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276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C1D4B-6973-43CF-BF37-D7A210CB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C71B5-D02E-4F22-939B-64CD5DAB7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F2E44-CB0B-4145-93C4-4E698C0BF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C4F8A-B9DA-455B-A542-68D5FFC6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C169D-FA88-4D58-A7D0-8B28BA8B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8415F-3129-4CA4-AC81-5CDC0A8E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6580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D52A-0F08-47FB-AA12-4D4FCA21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897070-B1A2-424C-B0AB-82DF246AA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FE228-979E-493F-9A79-1214B2F40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7A86A-A359-44AC-A8B7-24C62E10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AC91-F8C8-4C2C-8CD1-40A8B54E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5D226-2601-4572-9302-63F53B83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895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2173-266B-4139-87CC-8999A142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B008D-4F6E-4FEB-83DE-4DDC66212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87-C0CC-4FB7-80DE-D55271D0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4F7C3-48B9-4E24-942C-4356EB4C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C44C6-962A-46E2-B771-823BCC0C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561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9B2077-7DFC-401A-BE5F-B4272D3A8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52821-A790-4FA9-80B3-0D9C6C807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7EAE4-FE79-4FE9-9262-61EF086A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37A26-CD25-42C7-8CDE-88C74E41A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3B6E5-CD3E-45D4-B902-ED73488B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397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1BF24-2F12-462C-AF17-EC30F055D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DBF2E-CC61-4572-BCF8-83EF1A072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3EAD-57A8-45FC-9E26-5B6256F38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818DF-A17C-4B4B-97FF-F41471386585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7F5D2-4DB7-400B-82D3-F9F9C5587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5CD4-C319-4103-BD83-11312B1C8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4BEB5-3EC1-471A-B911-5608DA4B1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379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Macro-Enabled_Worksheet.xlsm"/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7.png"/><Relationship Id="rId7" Type="http://schemas.openxmlformats.org/officeDocument/2006/relationships/oleObject" Target="../embeddings/oleObject4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wmf"/><Relationship Id="rId4" Type="http://schemas.openxmlformats.org/officeDocument/2006/relationships/image" Target="../media/image8.png"/><Relationship Id="rId9" Type="http://schemas.openxmlformats.org/officeDocument/2006/relationships/package" Target="../embeddings/Microsoft_Excel_Macro-Enabled_Worksheet1.xlsm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D0E20E-62F7-4065-BEA0-A3ED9B8A815D}"/>
              </a:ext>
            </a:extLst>
          </p:cNvPr>
          <p:cNvSpPr txBox="1"/>
          <p:nvPr/>
        </p:nvSpPr>
        <p:spPr>
          <a:xfrm>
            <a:off x="0" y="106326"/>
            <a:ext cx="271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TDK Wafer map file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5D3402-277B-4FA3-A93D-CCB48587C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40" y="1044132"/>
            <a:ext cx="3388628" cy="45770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91EBDB-947B-4317-B612-0BAA0098D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719" y="1047182"/>
            <a:ext cx="3911992" cy="44309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A200D5-DD4B-4CE8-BF99-FD0A4A2D2794}"/>
              </a:ext>
            </a:extLst>
          </p:cNvPr>
          <p:cNvSpPr txBox="1"/>
          <p:nvPr/>
        </p:nvSpPr>
        <p:spPr>
          <a:xfrm>
            <a:off x="244549" y="648586"/>
            <a:ext cx="189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Map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E61E9-F518-4FEB-8B0F-E060B679FD35}"/>
              </a:ext>
            </a:extLst>
          </p:cNvPr>
          <p:cNvSpPr txBox="1"/>
          <p:nvPr/>
        </p:nvSpPr>
        <p:spPr>
          <a:xfrm>
            <a:off x="5902842" y="492392"/>
            <a:ext cx="189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Convert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347C02-B2DC-4A15-A0FB-061D80540413}"/>
              </a:ext>
            </a:extLst>
          </p:cNvPr>
          <p:cNvSpPr txBox="1"/>
          <p:nvPr/>
        </p:nvSpPr>
        <p:spPr>
          <a:xfrm>
            <a:off x="244549" y="5478111"/>
            <a:ext cx="70387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Yang di convert 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Header, left &amp; right </a:t>
            </a:r>
            <a:r>
              <a:rPr lang="en-US" sz="1400" dirty="0">
                <a:sym typeface="Wingdings" panose="05000000000000000000" pitchFamily="2" charset="2"/>
              </a:rPr>
              <a:t> remove</a:t>
            </a:r>
          </a:p>
          <a:p>
            <a:pPr marL="285750" indent="-285750">
              <a:buFontTx/>
              <a:buChar char="-"/>
            </a:pPr>
            <a:r>
              <a:rPr lang="en-US" sz="1400" dirty="0" err="1">
                <a:sym typeface="Wingdings" panose="05000000000000000000" pitchFamily="2" charset="2"/>
              </a:rPr>
              <a:t>Bincode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selain</a:t>
            </a:r>
            <a:r>
              <a:rPr lang="en-US" sz="1400" dirty="0">
                <a:sym typeface="Wingdings" panose="05000000000000000000" pitchFamily="2" charset="2"/>
              </a:rPr>
              <a:t> code 1  X [NG unit]</a:t>
            </a:r>
          </a:p>
          <a:p>
            <a:pPr marL="285750" indent="-285750">
              <a:buFontTx/>
              <a:buChar char="-"/>
            </a:pPr>
            <a:endParaRPr lang="en-US" sz="1400" dirty="0">
              <a:sym typeface="Wingdings" panose="05000000000000000000" pitchFamily="2" charset="2"/>
            </a:endParaRPr>
          </a:p>
          <a:p>
            <a:r>
              <a:rPr lang="en-US" sz="1400" dirty="0">
                <a:sym typeface="Wingdings" panose="05000000000000000000" pitchFamily="2" charset="2"/>
              </a:rPr>
              <a:t>Summary report :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ym typeface="Wingdings" panose="05000000000000000000" pitchFamily="2" charset="2"/>
              </a:rPr>
              <a:t>Good unit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ym typeface="Wingdings" panose="05000000000000000000" pitchFamily="2" charset="2"/>
              </a:rPr>
              <a:t>Wafer ID [ slice name]</a:t>
            </a:r>
          </a:p>
          <a:p>
            <a:pPr marL="285750" indent="-285750">
              <a:buFontTx/>
              <a:buChar char="-"/>
            </a:pPr>
            <a:endParaRPr lang="en-US" sz="1400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3C67073A-BC56-4D72-B68A-64C34AC3142C}"/>
              </a:ext>
            </a:extLst>
          </p:cNvPr>
          <p:cNvSpPr/>
          <p:nvPr/>
        </p:nvSpPr>
        <p:spPr>
          <a:xfrm>
            <a:off x="2474284" y="1200814"/>
            <a:ext cx="1233377" cy="545067"/>
          </a:xfrm>
          <a:prstGeom prst="wedgeRoundRectCallout">
            <a:avLst>
              <a:gd name="adj1" fmla="val -58102"/>
              <a:gd name="adj2" fmla="val 4214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Header</a:t>
            </a:r>
            <a:endParaRPr lang="en-ID" sz="1400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63AB3366-F6E7-4CF7-A9CA-AE59C568DB26}"/>
              </a:ext>
            </a:extLst>
          </p:cNvPr>
          <p:cNvSpPr/>
          <p:nvPr/>
        </p:nvSpPr>
        <p:spPr>
          <a:xfrm>
            <a:off x="2178289" y="1043763"/>
            <a:ext cx="244475" cy="14668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317F5-43DB-4B6E-8BD8-0EAE8B7D549A}"/>
              </a:ext>
            </a:extLst>
          </p:cNvPr>
          <p:cNvSpPr/>
          <p:nvPr/>
        </p:nvSpPr>
        <p:spPr>
          <a:xfrm>
            <a:off x="3368040" y="2585719"/>
            <a:ext cx="339621" cy="2895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052CE8-F22D-43EA-963B-4B76A88798AD}"/>
              </a:ext>
            </a:extLst>
          </p:cNvPr>
          <p:cNvSpPr/>
          <p:nvPr/>
        </p:nvSpPr>
        <p:spPr>
          <a:xfrm>
            <a:off x="372140" y="2585719"/>
            <a:ext cx="339621" cy="2965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6C5EF6-70EC-4B67-9744-1415C725DA0B}"/>
              </a:ext>
            </a:extLst>
          </p:cNvPr>
          <p:cNvSpPr/>
          <p:nvPr/>
        </p:nvSpPr>
        <p:spPr>
          <a:xfrm>
            <a:off x="765783" y="2377440"/>
            <a:ext cx="1360986" cy="86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E22B1DC4-5F95-449F-AEC8-453118B615C5}"/>
              </a:ext>
            </a:extLst>
          </p:cNvPr>
          <p:cNvSpPr/>
          <p:nvPr/>
        </p:nvSpPr>
        <p:spPr>
          <a:xfrm>
            <a:off x="1289050" y="1808966"/>
            <a:ext cx="749300" cy="220494"/>
          </a:xfrm>
          <a:prstGeom prst="wedgeRoundRectCallout">
            <a:avLst>
              <a:gd name="adj1" fmla="val -76107"/>
              <a:gd name="adj2" fmla="val 22506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Summary good qty</a:t>
            </a:r>
            <a:endParaRPr lang="en-ID" sz="700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53BD7AB-648E-47B9-AB86-A7404288BEA2}"/>
              </a:ext>
            </a:extLst>
          </p:cNvPr>
          <p:cNvSpPr/>
          <p:nvPr/>
        </p:nvSpPr>
        <p:spPr>
          <a:xfrm>
            <a:off x="4689220" y="2463800"/>
            <a:ext cx="779646" cy="22795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After convert</a:t>
            </a:r>
            <a:endParaRPr lang="en-ID" sz="1000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EF1F301-9CAF-4EDC-904B-1C4560B326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084503"/>
              </p:ext>
            </p:extLst>
          </p:nvPr>
        </p:nvGraphicFramePr>
        <p:xfrm>
          <a:off x="2579688" y="1984375"/>
          <a:ext cx="8270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826920" imgH="456480" progId="Package">
                  <p:embed/>
                </p:oleObj>
              </mc:Choice>
              <mc:Fallback>
                <p:oleObj name="Packager Shell Object" showAsIcon="1" r:id="rId4" imgW="826920" imgH="4564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79688" y="1984375"/>
                        <a:ext cx="827087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B76E461-66DD-4B05-9A1D-1383A1FA5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168385"/>
              </p:ext>
            </p:extLst>
          </p:nvPr>
        </p:nvGraphicFramePr>
        <p:xfrm>
          <a:off x="10436225" y="2235200"/>
          <a:ext cx="771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771840" imgH="456480" progId="Package">
                  <p:embed/>
                </p:oleObj>
              </mc:Choice>
              <mc:Fallback>
                <p:oleObj name="Packager Shell Object" showAsIcon="1" r:id="rId6" imgW="771840" imgH="4564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36225" y="2235200"/>
                        <a:ext cx="771525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DF77732-2362-4371-9F54-36158A91C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557857"/>
              </p:ext>
            </p:extLst>
          </p:nvPr>
        </p:nvGraphicFramePr>
        <p:xfrm>
          <a:off x="10499558" y="2796802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8" imgW="914400" imgH="806400" progId="Excel.SheetMacroEnabled.12">
                  <p:embed/>
                </p:oleObj>
              </mc:Choice>
              <mc:Fallback>
                <p:oleObj name="Macro-Enabled Worksheet" showAsIcon="1" r:id="rId8" imgW="914400" imgH="80640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99558" y="2796802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251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CB23B-8719-4CEC-A575-5D9738101548}"/>
              </a:ext>
            </a:extLst>
          </p:cNvPr>
          <p:cNvSpPr txBox="1"/>
          <p:nvPr/>
        </p:nvSpPr>
        <p:spPr>
          <a:xfrm>
            <a:off x="0" y="106326"/>
            <a:ext cx="271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Infineon Wafer map file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B647B5-F1C1-459F-8291-CC17AF3DE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0" y="996740"/>
            <a:ext cx="5259572" cy="30841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1CA5B8-6A12-43EE-BC24-791E5B698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615" y="996740"/>
            <a:ext cx="5168358" cy="30841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BB77FD-BD91-4905-BCD7-B93241ED4F10}"/>
              </a:ext>
            </a:extLst>
          </p:cNvPr>
          <p:cNvSpPr txBox="1"/>
          <p:nvPr/>
        </p:nvSpPr>
        <p:spPr>
          <a:xfrm>
            <a:off x="109870" y="627407"/>
            <a:ext cx="189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Map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39234-DD9E-475E-B649-8E67161EB0AC}"/>
              </a:ext>
            </a:extLst>
          </p:cNvPr>
          <p:cNvSpPr txBox="1"/>
          <p:nvPr/>
        </p:nvSpPr>
        <p:spPr>
          <a:xfrm>
            <a:off x="5950614" y="586440"/>
            <a:ext cx="189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Convert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7E645-13AB-4D1B-B73B-C81D1228FDEC}"/>
              </a:ext>
            </a:extLst>
          </p:cNvPr>
          <p:cNvSpPr txBox="1"/>
          <p:nvPr/>
        </p:nvSpPr>
        <p:spPr>
          <a:xfrm>
            <a:off x="176816" y="4184399"/>
            <a:ext cx="70387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Yang di convert 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Header, left &amp; right </a:t>
            </a:r>
            <a:r>
              <a:rPr lang="en-US" sz="1400" dirty="0">
                <a:sym typeface="Wingdings" panose="05000000000000000000" pitchFamily="2" charset="2"/>
              </a:rPr>
              <a:t> remove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ym typeface="Wingdings" panose="05000000000000000000" pitchFamily="2" charset="2"/>
              </a:rPr>
              <a:t>Left index  Remove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ym typeface="Wingdings" panose="05000000000000000000" pitchFamily="2" charset="2"/>
              </a:rPr>
              <a:t>Bin code </a:t>
            </a:r>
            <a:r>
              <a:rPr lang="en-US" sz="1400" dirty="0" err="1">
                <a:sym typeface="Wingdings" panose="05000000000000000000" pitchFamily="2" charset="2"/>
              </a:rPr>
              <a:t>code</a:t>
            </a:r>
            <a:r>
              <a:rPr lang="en-US" sz="1400" dirty="0">
                <a:sym typeface="Wingdings" panose="05000000000000000000" pitchFamily="2" charset="2"/>
              </a:rPr>
              <a:t> 0  X [NG unit]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ym typeface="Wingdings" panose="05000000000000000000" pitchFamily="2" charset="2"/>
              </a:rPr>
              <a:t>Bin code X  + [ reference position]</a:t>
            </a:r>
          </a:p>
          <a:p>
            <a:r>
              <a:rPr lang="en-US" sz="1400" dirty="0">
                <a:sym typeface="Wingdings" panose="05000000000000000000" pitchFamily="2" charset="2"/>
              </a:rPr>
              <a:t>Summary report :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ym typeface="Wingdings" panose="05000000000000000000" pitchFamily="2" charset="2"/>
              </a:rPr>
              <a:t>Good unit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ym typeface="Wingdings" panose="05000000000000000000" pitchFamily="2" charset="2"/>
              </a:rPr>
              <a:t>Wafer ID [ slice name]</a:t>
            </a:r>
          </a:p>
          <a:p>
            <a:pPr marL="285750" indent="-285750">
              <a:buFontTx/>
              <a:buChar char="-"/>
            </a:pPr>
            <a:endParaRPr lang="en-US" sz="1400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FE47DF-F47F-44FF-98DA-EAF2C5305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642" y="1289539"/>
            <a:ext cx="798645" cy="236545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878DFAC-296C-4486-88E3-AD08FC8AEA02}"/>
              </a:ext>
            </a:extLst>
          </p:cNvPr>
          <p:cNvSpPr/>
          <p:nvPr/>
        </p:nvSpPr>
        <p:spPr>
          <a:xfrm>
            <a:off x="287867" y="955772"/>
            <a:ext cx="245533" cy="312516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573892-D355-4BED-BD93-1D4580E6431F}"/>
              </a:ext>
            </a:extLst>
          </p:cNvPr>
          <p:cNvSpPr/>
          <p:nvPr/>
        </p:nvSpPr>
        <p:spPr>
          <a:xfrm>
            <a:off x="316956" y="996739"/>
            <a:ext cx="1977511" cy="1619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890226FA-1E8F-4F6A-8E1D-79765270025F}"/>
              </a:ext>
            </a:extLst>
          </p:cNvPr>
          <p:cNvSpPr/>
          <p:nvPr/>
        </p:nvSpPr>
        <p:spPr>
          <a:xfrm>
            <a:off x="2474284" y="1200814"/>
            <a:ext cx="1233377" cy="545067"/>
          </a:xfrm>
          <a:prstGeom prst="wedgeRoundRectCallout">
            <a:avLst>
              <a:gd name="adj1" fmla="val -64967"/>
              <a:gd name="adj2" fmla="val 297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Header</a:t>
            </a:r>
            <a:endParaRPr lang="en-ID" sz="1400" dirty="0"/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99C5D725-3E9E-470A-8B74-3993C7A9084D}"/>
              </a:ext>
            </a:extLst>
          </p:cNvPr>
          <p:cNvSpPr/>
          <p:nvPr/>
        </p:nvSpPr>
        <p:spPr>
          <a:xfrm>
            <a:off x="2538769" y="1949954"/>
            <a:ext cx="1084964" cy="437645"/>
          </a:xfrm>
          <a:prstGeom prst="wedgeRoundRectCallout">
            <a:avLst>
              <a:gd name="adj1" fmla="val -241382"/>
              <a:gd name="adj2" fmla="val 1933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Left index</a:t>
            </a:r>
            <a:endParaRPr lang="en-ID" sz="1400" dirty="0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5E74466C-B650-4F5D-B1F6-615AE3A46A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732731"/>
              </p:ext>
            </p:extLst>
          </p:nvPr>
        </p:nvGraphicFramePr>
        <p:xfrm>
          <a:off x="4033838" y="1839913"/>
          <a:ext cx="727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727560" imgH="456480" progId="Package">
                  <p:embed/>
                </p:oleObj>
              </mc:Choice>
              <mc:Fallback>
                <p:oleObj name="Packager Shell Object" showAsIcon="1" r:id="rId5" imgW="727560" imgH="4564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33838" y="1839913"/>
                        <a:ext cx="727075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43E03D7B-41A1-440C-B414-655B11B2A6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104938"/>
              </p:ext>
            </p:extLst>
          </p:nvPr>
        </p:nvGraphicFramePr>
        <p:xfrm>
          <a:off x="11028363" y="2068513"/>
          <a:ext cx="7778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7" imgW="777240" imgH="456480" progId="Package">
                  <p:embed/>
                </p:oleObj>
              </mc:Choice>
              <mc:Fallback>
                <p:oleObj name="Packager Shell Object" showAsIcon="1" r:id="rId7" imgW="777240" imgH="4564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028363" y="2068513"/>
                        <a:ext cx="777875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8279B5C9-2054-4C45-96C2-5CCE870BB9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823575"/>
              </p:ext>
            </p:extLst>
          </p:nvPr>
        </p:nvGraphicFramePr>
        <p:xfrm>
          <a:off x="10989733" y="2496873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9" imgW="914400" imgH="806400" progId="Excel.SheetMacroEnabled.12">
                  <p:embed/>
                </p:oleObj>
              </mc:Choice>
              <mc:Fallback>
                <p:oleObj name="Macro-Enabled Worksheet" showAsIcon="1" r:id="rId9" imgW="914400" imgH="80640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989733" y="2496873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400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102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Package</vt:lpstr>
      <vt:lpstr>Microsoft Excel Macro-Enabled Worksheet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Lukman Fadillah (UID)</dc:creator>
  <cp:lastModifiedBy>Lukman Fadillah (UID)</cp:lastModifiedBy>
  <cp:revision>3</cp:revision>
  <dcterms:created xsi:type="dcterms:W3CDTF">2025-11-13T08:57:51Z</dcterms:created>
  <dcterms:modified xsi:type="dcterms:W3CDTF">2025-11-24T08:02:30Z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526ec97-40e0-43a1-8df6-e54b1864bfd3_Enabled">
    <vt:lpwstr>true</vt:lpwstr>
  </property>
  <property fmtid="{D5CDD505-2E9C-101B-9397-08002B2CF9AE}" pid="3" name="MSIP_Label_8526ec97-40e0-43a1-8df6-e54b1864bfd3_SetDate">
    <vt:lpwstr>2025-11-13T08:57:51Z</vt:lpwstr>
  </property>
  <property fmtid="{D5CDD505-2E9C-101B-9397-08002B2CF9AE}" pid="4" name="MSIP_Label_8526ec97-40e0-43a1-8df6-e54b1864bfd3_Method">
    <vt:lpwstr>Standard</vt:lpwstr>
  </property>
  <property fmtid="{D5CDD505-2E9C-101B-9397-08002B2CF9AE}" pid="5" name="MSIP_Label_8526ec97-40e0-43a1-8df6-e54b1864bfd3_Name">
    <vt:lpwstr>Internal</vt:lpwstr>
  </property>
  <property fmtid="{D5CDD505-2E9C-101B-9397-08002B2CF9AE}" pid="6" name="MSIP_Label_8526ec97-40e0-43a1-8df6-e54b1864bfd3_SiteId">
    <vt:lpwstr>91737204-713b-4e92-87c2-19bac9cdf87b</vt:lpwstr>
  </property>
  <property fmtid="{D5CDD505-2E9C-101B-9397-08002B2CF9AE}" pid="7" name="MSIP_Label_8526ec97-40e0-43a1-8df6-e54b1864bfd3_ActionId">
    <vt:lpwstr>589cd030-f2e6-486c-a372-4c8b045e094d</vt:lpwstr>
  </property>
  <property fmtid="{D5CDD505-2E9C-101B-9397-08002B2CF9AE}" pid="8" name="MSIP_Label_8526ec97-40e0-43a1-8df6-e54b1864bfd3_ContentBits">
    <vt:lpwstr>0</vt:lpwstr>
  </property>
</Properties>
</file>